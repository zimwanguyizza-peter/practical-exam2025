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80" d="100"/>
          <a:sy n="80" d="100"/>
        </p:scale>
        <p:origin x="3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PRACTICAL EXAM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ZIMWANGUYIZZA PETER</a:t>
            </a:r>
          </a:p>
          <a:p>
            <a:r>
              <a:rPr lang="en-US" dirty="0" smtClean="0"/>
              <a:t>2023-B072-21287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88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Part A: Data Preparation (4 Marks)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Load the dataset into a </a:t>
            </a:r>
            <a:r>
              <a:rPr lang="en-US" sz="2400" dirty="0" smtClean="0"/>
              <a:t>data frame </a:t>
            </a:r>
            <a:r>
              <a:rPr lang="en-US" sz="2400" dirty="0"/>
              <a:t>and convert the item lists into a transaction format suitable for Apriori. (2 Marks)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469092"/>
            <a:ext cx="8596312" cy="2686915"/>
          </a:xfrm>
        </p:spPr>
      </p:pic>
    </p:spTree>
    <p:extLst>
      <p:ext uri="{BB962C8B-B14F-4D97-AF65-F5344CB8AC3E}">
        <p14:creationId xmlns:p14="http://schemas.microsoft.com/office/powerpoint/2010/main" val="3418300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23" y="573505"/>
            <a:ext cx="8596668" cy="1320800"/>
          </a:xfrm>
        </p:spPr>
        <p:txBody>
          <a:bodyPr>
            <a:normAutofit/>
          </a:bodyPr>
          <a:lstStyle/>
          <a:p>
            <a:r>
              <a:rPr lang="en-US" sz="2400" dirty="0"/>
              <a:t>Encode the transaction data into the correct one-hot encoded format for the algorithm. (2 Marks)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16" y="1894304"/>
            <a:ext cx="7074568" cy="3741189"/>
          </a:xfrm>
        </p:spPr>
      </p:pic>
    </p:spTree>
    <p:extLst>
      <p:ext uri="{BB962C8B-B14F-4D97-AF65-F5344CB8AC3E}">
        <p14:creationId xmlns:p14="http://schemas.microsoft.com/office/powerpoint/2010/main" val="1345355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Part B: Apriori Algorithm (8 Marks)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Apply the </a:t>
            </a:r>
            <a:r>
              <a:rPr lang="en-US" sz="2400" b="1" dirty="0"/>
              <a:t>Apriori algorithm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Minimum support = </a:t>
            </a:r>
            <a:r>
              <a:rPr lang="en-US" sz="2400" b="1" dirty="0"/>
              <a:t>0.2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537" y="1763551"/>
            <a:ext cx="7110663" cy="4083795"/>
          </a:xfrm>
        </p:spPr>
      </p:pic>
    </p:spTree>
    <p:extLst>
      <p:ext uri="{BB962C8B-B14F-4D97-AF65-F5344CB8AC3E}">
        <p14:creationId xmlns:p14="http://schemas.microsoft.com/office/powerpoint/2010/main" val="3073626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Generate </a:t>
            </a:r>
            <a:r>
              <a:rPr lang="en-US" sz="1800" b="1" dirty="0"/>
              <a:t>association rules</a:t>
            </a:r>
            <a:r>
              <a:rPr lang="en-US" sz="1800" dirty="0"/>
              <a:t> from the frequent </a:t>
            </a:r>
            <a:r>
              <a:rPr lang="en-US" sz="1800" dirty="0" err="1"/>
              <a:t>itemset</a:t>
            </a:r>
            <a:r>
              <a:rPr lang="en-US" sz="1800" dirty="0"/>
              <a:t> and display</a:t>
            </a:r>
            <a:br>
              <a:rPr lang="en-US" sz="1800" dirty="0"/>
            </a:br>
            <a:r>
              <a:rPr lang="en-US" sz="1800" dirty="0" smtClean="0"/>
              <a:t>1.Support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smtClean="0"/>
              <a:t>2.Confidence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smtClean="0"/>
              <a:t>3.Lift </a:t>
            </a:r>
            <a:r>
              <a:rPr lang="en-US" sz="1800" dirty="0"/>
              <a:t/>
            </a:r>
            <a:br>
              <a:rPr lang="en-US" sz="1800" dirty="0"/>
            </a:b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5" y="2334172"/>
            <a:ext cx="7118478" cy="3534268"/>
          </a:xfrm>
        </p:spPr>
      </p:pic>
    </p:spTree>
    <p:extLst>
      <p:ext uri="{BB962C8B-B14F-4D97-AF65-F5344CB8AC3E}">
        <p14:creationId xmlns:p14="http://schemas.microsoft.com/office/powerpoint/2010/main" val="212137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Identify the </a:t>
            </a:r>
            <a:r>
              <a:rPr lang="en-US" sz="2400" b="1" dirty="0"/>
              <a:t>three strongest rules</a:t>
            </a:r>
            <a:r>
              <a:rPr lang="en-US" sz="2400" dirty="0"/>
              <a:t> based on lift and explain what each suggests about customer purchase </a:t>
            </a:r>
            <a:r>
              <a:rPr lang="en-US" sz="2400" dirty="0" err="1"/>
              <a:t>behaviour</a:t>
            </a:r>
            <a:r>
              <a:rPr lang="en-US" sz="2400" dirty="0"/>
              <a:t>. </a:t>
            </a:r>
            <a:r>
              <a:rPr lang="en-US" sz="2400" i="1" dirty="0"/>
              <a:t>(4 Marks)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 </a:t>
            </a:r>
          </a:p>
          <a:p>
            <a:r>
              <a:rPr lang="en-US" dirty="0"/>
              <a:t>1. {Beer} → {Diapers}  </a:t>
            </a:r>
          </a:p>
          <a:p>
            <a:r>
              <a:rPr lang="en-US" dirty="0"/>
              <a:t>Lift = 2.5  </a:t>
            </a:r>
          </a:p>
          <a:p>
            <a:r>
              <a:rPr lang="en-US" dirty="0"/>
              <a:t>What it means: When someone buys beer, they almost always buy diapers too (100% of the time in this data).</a:t>
            </a:r>
          </a:p>
          <a:p>
            <a:r>
              <a:rPr lang="en-US" dirty="0"/>
              <a:t> Example: Think of a father going to shop on Friday evening. He buys Bell Lager or Nile Special for weekend relaxation, and also buys pampers for his baby.</a:t>
            </a:r>
          </a:p>
          <a:p>
            <a:r>
              <a:rPr lang="en-US" dirty="0"/>
              <a:t>Why: Weekend preparation - enjoying time at home while caring for his children.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732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2. {Diapers} → {Beer} </a:t>
            </a:r>
          </a:p>
          <a:p>
            <a:r>
              <a:rPr lang="en-US" dirty="0"/>
              <a:t>Lift = 2.5 </a:t>
            </a:r>
          </a:p>
          <a:p>
            <a:r>
              <a:rPr lang="en-US" dirty="0"/>
              <a:t>What it means: When someone buys diapers, 75% chance they buy beer too.</a:t>
            </a:r>
          </a:p>
          <a:p>
            <a:r>
              <a:rPr lang="en-US" dirty="0"/>
              <a:t> Example: A mother going to supermarket for baby supplies. She also picks beer for her husband. Or a parent doing monthly shopping buys both items.</a:t>
            </a:r>
          </a:p>
          <a:p>
            <a:r>
              <a:rPr lang="en-US" dirty="0"/>
              <a:t>Why: Family shopping includes needs for both children and adults.</a:t>
            </a:r>
          </a:p>
        </p:txBody>
      </p:sp>
    </p:spTree>
    <p:extLst>
      <p:ext uri="{BB962C8B-B14F-4D97-AF65-F5344CB8AC3E}">
        <p14:creationId xmlns:p14="http://schemas.microsoft.com/office/powerpoint/2010/main" val="4105379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3. {Bread, Milk} → {Butter}</a:t>
            </a:r>
          </a:p>
          <a:p>
            <a:r>
              <a:rPr lang="en-US" dirty="0"/>
              <a:t>Lift = 1.5</a:t>
            </a:r>
          </a:p>
          <a:p>
            <a:r>
              <a:rPr lang="en-US" dirty="0"/>
              <a:t>What it means: When customers buy bread and milk together, 75% add butter.</a:t>
            </a:r>
          </a:p>
          <a:p>
            <a:r>
              <a:rPr lang="en-US" dirty="0"/>
              <a:t> Example: Someone buying bread for breakfast (maybe Ntake or tiptop) with milk (Jesa or Fresh Dairy). They complete with Blue Band butter.</a:t>
            </a:r>
          </a:p>
          <a:p>
            <a:r>
              <a:rPr lang="en-US" dirty="0"/>
              <a:t>Why:  Complete breakfast preparation - bread, tea with milk, and butter for spreading.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725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Provide </a:t>
            </a:r>
            <a:r>
              <a:rPr lang="en-US" b="1" dirty="0"/>
              <a:t>two business recommendations</a:t>
            </a:r>
            <a:r>
              <a:rPr lang="en-US" dirty="0"/>
              <a:t> based on insights from the rules. </a:t>
            </a:r>
            <a:r>
              <a:rPr lang="en-US" i="1" dirty="0"/>
              <a:t>(4 Marks)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create </a:t>
            </a:r>
            <a:r>
              <a:rPr lang="en-US" dirty="0"/>
              <a:t>Weekend Family Package </a:t>
            </a:r>
          </a:p>
          <a:p>
            <a:r>
              <a:rPr lang="en-US" dirty="0"/>
              <a:t> Put beer section near baby products in your supermarket.</a:t>
            </a:r>
          </a:p>
          <a:p>
            <a:r>
              <a:rPr lang="en-US" dirty="0"/>
              <a:t>Example: In Jordan rivers supermarket, they have to create a corner with Bell Lager, Nile Special next to soft care diapers. Add small discount if bought together.</a:t>
            </a:r>
          </a:p>
          <a:p>
            <a:r>
              <a:rPr lang="en-US" b="1" dirty="0"/>
              <a:t>Benefit</a:t>
            </a:r>
            <a:r>
              <a:rPr lang="en-US" dirty="0"/>
              <a:t>: Customers find what they need together. Increases sales of both.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795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617176" y="873210"/>
            <a:ext cx="8596668" cy="3880773"/>
          </a:xfrm>
        </p:spPr>
        <p:txBody>
          <a:bodyPr/>
          <a:lstStyle/>
          <a:p>
            <a:r>
              <a:rPr lang="en-US" dirty="0"/>
              <a:t>2. Make Breakfast Corner</a:t>
            </a:r>
          </a:p>
          <a:p>
            <a:r>
              <a:rPr lang="en-US" dirty="0"/>
              <a:t>Display bread, milk, and butter together in one place.</a:t>
            </a:r>
          </a:p>
          <a:p>
            <a:r>
              <a:rPr lang="en-US" dirty="0"/>
              <a:t> Example: In standard supermarket, put all breakfast items in same shelf: Bread, Fresh Dairy milk, Blue Band butter, eggs, and tea leaves.</a:t>
            </a:r>
          </a:p>
          <a:p>
            <a:r>
              <a:rPr lang="en-US" dirty="0"/>
              <a:t>Benefit: Customers don't walk around store. They see everything together and buy more.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0019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</TotalTime>
  <Words>361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PRACTICAL EXAM</vt:lpstr>
      <vt:lpstr>Part A: Data Preparation (4 Marks) Load the dataset into a data frame and convert the item lists into a transaction format suitable for Apriori. (2 Marks) </vt:lpstr>
      <vt:lpstr>Encode the transaction data into the correct one-hot encoded format for the algorithm. (2 Marks) </vt:lpstr>
      <vt:lpstr>Part B: Apriori Algorithm (8 Marks) Apply the Apriori algorithm. Minimum support = 0.2 </vt:lpstr>
      <vt:lpstr>Generate association rules from the frequent itemset and display 1.Support 2.Confidence 3.Lift  </vt:lpstr>
      <vt:lpstr>Identify the three strongest rules based on lift and explain what each suggests about customer purchase behaviour. (4 Marks) </vt:lpstr>
      <vt:lpstr>PowerPoint Presentation</vt:lpstr>
      <vt:lpstr>PowerPoint Presentation</vt:lpstr>
      <vt:lpstr>Provide two business recommendations based on insights from the rules. (4 Marks)  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</dc:creator>
  <cp:lastModifiedBy>PETER</cp:lastModifiedBy>
  <cp:revision>4</cp:revision>
  <dcterms:created xsi:type="dcterms:W3CDTF">2025-12-14T19:44:53Z</dcterms:created>
  <dcterms:modified xsi:type="dcterms:W3CDTF">2025-12-14T20:46:41Z</dcterms:modified>
</cp:coreProperties>
</file>